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Urbanist SemiBold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  <p:embeddedFont>
      <p:font typeface="Space Grotesk SemiBold"/>
      <p:regular r:id="rId30"/>
      <p:bold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Urbanist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UrbanistSemiBold-italic.fntdata"/><Relationship Id="rId23" Type="http://schemas.openxmlformats.org/officeDocument/2006/relationships/font" Target="fonts/Urbanis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SemiBold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SemiBold-bold.fntdata"/><Relationship Id="rId30" Type="http://schemas.openxmlformats.org/officeDocument/2006/relationships/font" Target="fonts/SpaceGrotesk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5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f26467c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f26467c1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f26467c1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f26467c1b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f26467c1b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f26467c1b_4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f633be82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f633be827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f26467c1b_1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f26467c1b_11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f633be827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f633be827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 p14:dur="600">
        <p:push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hyperlink" Target="http://drive.google.com/file/d/18FkkesP02eODxhb_gXUeqkM2wSmePDV9/view" TargetMode="External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hyperlink" Target="http://drive.google.com/file/d/14owpdMswCPwk4HXNt1C2RrQxI2f18_73/view" TargetMode="External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hyperlink" Target="http://drive.google.com/file/d/1_pqIJrwfQSpUSlUQ0fIuQTVGtiEuL9Hs/view" TargetMode="External"/><Relationship Id="rId7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hyperlink" Target="http://drive.google.com/file/d/1EMAe1lpFnN7-3yjg54c_NtS6OdLRIiYC/view" TargetMode="External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GhlOdWXGxMOYauoDp_DO93_Vu-eelMWk/view" TargetMode="External"/><Relationship Id="rId5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cD8Dlh5UNDeyQ9C0qClJ-OIpWCi6v7SC/view" TargetMode="External"/><Relationship Id="rId5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D-nTl89NhzfuI4BzLDFpMH_rLLwnI-rC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github.com/GV-ing/SpiderB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45631" y="2641252"/>
            <a:ext cx="590073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Space Grotesk"/>
                <a:ea typeface="Space Grotesk"/>
                <a:cs typeface="Space Grotesk"/>
                <a:sym typeface="Space Grotesk"/>
              </a:rPr>
              <a:t>SPIDER</a:t>
            </a: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86125" y="3850927"/>
            <a:ext cx="5619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A 12-DOF Quadrupedal Robot • Final Project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2757487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SpiderBot is a 12-DOF spider-like robot featuring four legs, with three actuated revolute joints per leg. 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19150" y="38147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Hexagonal main body geometry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19150" y="4262437"/>
            <a:ext cx="503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Coxa, Femur, and Tibia links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19150" y="4710112"/>
            <a:ext cx="503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Eye-catching street design 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383381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42814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7291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81500" y="5176820"/>
            <a:ext cx="18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INTRODUCTION &amp;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ROBOT MODEL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title="Opera_senza_titolo-1.png"/>
          <p:cNvPicPr preferRelativeResize="0"/>
          <p:nvPr/>
        </p:nvPicPr>
        <p:blipFill rotWithShape="1">
          <a:blip r:embed="rId4">
            <a:alphaModFix/>
          </a:blip>
          <a:srcRect b="15912" l="24442" r="21507" t="52384"/>
          <a:stretch/>
        </p:blipFill>
        <p:spPr>
          <a:xfrm>
            <a:off x="5791076" y="1981196"/>
            <a:ext cx="6278026" cy="3739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 LOOP</a:t>
            </a: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3450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KINEMATIC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3450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title="Opera_senza_titolo (1)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486" y="1677524"/>
            <a:ext cx="10377027" cy="33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83825" y="4860369"/>
            <a:ext cx="28956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High-level time-driven trajectory planner. Computes desired 3D Cartesian coordinates of each foot relative to the robot's reference frame.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55725" y="4860369"/>
            <a:ext cx="2895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Mid-level spatial transformation layer. Translates optimal 3D footprints into precise joint angle requirements.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27625" y="4860369"/>
            <a:ext cx="2895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Low-level actuation of joints.</a:t>
            </a:r>
            <a:endParaRPr sz="1350">
              <a:solidFill>
                <a:srgbClr val="A3A3A3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Digital twin simulation from given joint commands.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57353"/>
            <a:ext cx="5276850" cy="34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71550" y="2147887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Creep Gait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71550" y="260508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4-beat walking gait designed for maximum stability on uneven terrain.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209675" y="335756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Foot Scheduling</a:t>
            </a: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[0 25 50 75]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209675" y="3805237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Cycle duration: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 = 2 s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209675" y="425291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Command: </a:t>
            </a:r>
            <a:r>
              <a:rPr i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dir_x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= 1.0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971550" y="337661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71550" y="38242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71550" y="42719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IMPLEMENTED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LOCOMOTION GAITS</a:t>
            </a: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(I)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 title="1782304206865-2dd17d0e-e990-4b7c-88c0-13ccb0ed65f5_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3275" y="4110025"/>
            <a:ext cx="6029400" cy="236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31" name="Google Shape;131;p16" title="creep.avi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0275" y="1447800"/>
            <a:ext cx="5942400" cy="25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3200" y="1872187"/>
            <a:ext cx="5276850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724650" y="2147887"/>
            <a:ext cx="472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Trot Gait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2605087"/>
            <a:ext cx="44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medium-to-high-speed 2-beat gait synchronizing diagonal pairs.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IMPLEMENTED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LOCOMOTION GAITS</a:t>
            </a: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(I)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7" title="Position_Trot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875" y="3898300"/>
            <a:ext cx="6029400" cy="236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43" name="Google Shape;143;p17" title="trot.avi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875" y="1459875"/>
            <a:ext cx="6029400" cy="23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962813" y="342901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Foot Scheduling</a:t>
            </a: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[0 50 50 0]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962813" y="3876687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Cycle duration: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 = 0.6 s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962813" y="432436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Command: </a:t>
            </a:r>
            <a:r>
              <a:rPr i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dir_x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= 1.0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724688" y="344806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24688" y="3895737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24688" y="434341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IMPLEMENTED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LOCOMOTION GAITS</a:t>
            </a: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(II)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8" title="Position_Pace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850" y="4038274"/>
            <a:ext cx="5915700" cy="2320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662962"/>
            <a:ext cx="5276850" cy="46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041050" y="2053487"/>
            <a:ext cx="472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Pace Gait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41050" y="2510687"/>
            <a:ext cx="44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lateral 2-beat gait moving legs on the same side simultaneously.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209675" y="335756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Foot Scheduling</a:t>
            </a: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[0 50 0 50]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209675" y="3805237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Cycle duration: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 = 0.6 s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209675" y="425291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Command: </a:t>
            </a:r>
            <a:r>
              <a:rPr i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dir_x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= 1.0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971550" y="337661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71550" y="3824287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71550" y="427196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pic>
        <p:nvPicPr>
          <p:cNvPr id="167" name="Google Shape;167;p18" title="pace.avi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0275" y="1447950"/>
            <a:ext cx="5995275" cy="243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2675" y="1648487"/>
            <a:ext cx="5276850" cy="46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974125" y="2038987"/>
            <a:ext cx="472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Gallop Gait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974125" y="2496187"/>
            <a:ext cx="44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highly dynamic 4-beat bounding gait with major biomechanical upgrades.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81025" y="557212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IMPLEMENTED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LOCOMOTION GAITS</a:t>
            </a: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(II)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81025" y="1252537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9" title="Position_Gallop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724" y="4007005"/>
            <a:ext cx="5958600" cy="233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7212288" y="327236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Foot Scheduling</a:t>
            </a: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[0 10 50 60]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212288" y="3720037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Cycle duration: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 = 0.6 s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7212288" y="4167712"/>
            <a:ext cx="42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Command: </a:t>
            </a:r>
            <a:r>
              <a:rPr i="1"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dir_y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= 1.0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6974163" y="329141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974163" y="3739087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974163" y="418676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pic>
        <p:nvPicPr>
          <p:cNvPr id="185" name="Google Shape;185;p19" title="gallop.avi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725" y="1348900"/>
            <a:ext cx="5958600" cy="24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81025" y="1654618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Cartesian to Joint Space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2111818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system translates Cartesian foot coordinates into physical actuator commands using an analytical IK solver for 3-DOF legs.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3073843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Target coordinates are rotated into the local 2D working plane of the leg. The Coxa angle (q1) is derived via planar trigonometry: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81025" y="4732394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Femur and Tibia angles are subsequently solved using distance projections and the Law of Cosines.</a:t>
            </a:r>
            <a:endParaRPr/>
          </a:p>
        </p:txBody>
      </p:sp>
      <p:pic>
        <p:nvPicPr>
          <p:cNvPr id="195" name="Google Shape;195;p20" title="image1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1975" y="1178025"/>
            <a:ext cx="4297225" cy="552462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INVERSE KINEMATICS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MAPPING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59000" y="4148826"/>
            <a:ext cx="2183400" cy="478200"/>
          </a:xfrm>
          <a:prstGeom prst="roundRect">
            <a:avLst>
              <a:gd fmla="val 16667" name="adj"/>
            </a:avLst>
          </a:prstGeom>
          <a:solidFill>
            <a:srgbClr val="F79646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A0A0A"/>
                </a:solidFill>
                <a:latin typeface="Space Grotesk"/>
                <a:ea typeface="Space Grotesk"/>
                <a:cs typeface="Space Grotesk"/>
                <a:sym typeface="Space Grotesk"/>
              </a:rPr>
              <a:t>q₁ = atan2(y_loc, x_loc)</a:t>
            </a:r>
            <a:endParaRPr b="1" sz="1400">
              <a:solidFill>
                <a:srgbClr val="0A0A0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59000" y="5515054"/>
            <a:ext cx="4956000" cy="711000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42875" spcFirstLastPara="1" rIns="14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0A0A"/>
                </a:solidFill>
                <a:latin typeface="Space Grotesk"/>
                <a:ea typeface="Space Grotesk"/>
                <a:cs typeface="Space Grotesk"/>
                <a:sym typeface="Space Grotesk"/>
              </a:rPr>
              <a:t>q₃ = arccos((D² - L_f² - L_t²) / (2 L_f L_t))</a:t>
            </a:r>
            <a:endParaRPr b="1" sz="1200">
              <a:solidFill>
                <a:srgbClr val="0A0A0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0A0A"/>
                </a:solidFill>
                <a:latin typeface="Space Grotesk"/>
                <a:ea typeface="Space Grotesk"/>
                <a:cs typeface="Space Grotesk"/>
                <a:sym typeface="Space Grotesk"/>
              </a:rPr>
              <a:t>q₂ = atan2(z_loc, L_fwd) + atan2(L_t sin(q₃), L_f + L_t cos(q₃))</a:t>
            </a:r>
            <a:endParaRPr b="1" sz="1200">
              <a:solidFill>
                <a:srgbClr val="0A0A0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title="Opera_senza_tito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7676" y="1183275"/>
            <a:ext cx="5409601" cy="549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81025" y="581025"/>
            <a:ext cx="7330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DRL CONTROL </a:t>
            </a:r>
            <a:endParaRPr b="1" i="0" sz="3450" u="none" cap="none" strike="noStrike">
              <a:solidFill>
                <a:srgbClr val="FB923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A64D7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SPIDERNET</a:t>
            </a:r>
            <a:endParaRPr>
              <a:solidFill>
                <a:srgbClr val="A64D79"/>
              </a:solidFill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81025" y="1828800"/>
            <a:ext cx="522922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81025" y="2181225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Deep Reinforcement Learning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81025" y="26384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Transitioning from geometric trajectory planning, this architecture employs End-to-End Deep Reinforcement Learning.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81025" y="37433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deep neural network acts as the singular controller, learning a direct mapping from the robot's proprioceptive sensory inputs to raw joint-level actuation commands.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81025" y="48482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Framed as a Markov Decision Process (MDP), the agent interacts with the MuJoCo physics engine to maximize expected cumulative reward.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0148525" y="1535226"/>
            <a:ext cx="4286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6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12 Velocities</a:t>
            </a:r>
            <a:endParaRPr sz="1191"/>
          </a:p>
        </p:txBody>
      </p:sp>
      <p:sp>
        <p:nvSpPr>
          <p:cNvPr id="213" name="Google Shape;213;p21"/>
          <p:cNvSpPr txBox="1"/>
          <p:nvPr/>
        </p:nvSpPr>
        <p:spPr>
          <a:xfrm>
            <a:off x="10148525" y="1167067"/>
            <a:ext cx="4286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6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12 Angular Positions</a:t>
            </a:r>
            <a:endParaRPr sz="1191"/>
          </a:p>
        </p:txBody>
      </p:sp>
      <p:sp>
        <p:nvSpPr>
          <p:cNvPr id="214" name="Google Shape;214;p21"/>
          <p:cNvSpPr txBox="1"/>
          <p:nvPr/>
        </p:nvSpPr>
        <p:spPr>
          <a:xfrm>
            <a:off x="9945950" y="807744"/>
            <a:ext cx="72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6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sz="1191"/>
          </a:p>
        </p:txBody>
      </p:sp>
      <p:sp>
        <p:nvSpPr>
          <p:cNvPr id="215" name="Google Shape;215;p21"/>
          <p:cNvSpPr txBox="1"/>
          <p:nvPr/>
        </p:nvSpPr>
        <p:spPr>
          <a:xfrm>
            <a:off x="9945950" y="1183273"/>
            <a:ext cx="72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6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sz="1191"/>
          </a:p>
        </p:txBody>
      </p:sp>
      <p:sp>
        <p:nvSpPr>
          <p:cNvPr id="216" name="Google Shape;216;p21"/>
          <p:cNvSpPr txBox="1"/>
          <p:nvPr/>
        </p:nvSpPr>
        <p:spPr>
          <a:xfrm>
            <a:off x="9945950" y="1536832"/>
            <a:ext cx="72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6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sz="1191"/>
          </a:p>
        </p:txBody>
      </p:sp>
      <p:sp>
        <p:nvSpPr>
          <p:cNvPr id="217" name="Google Shape;217;p21"/>
          <p:cNvSpPr txBox="1"/>
          <p:nvPr/>
        </p:nvSpPr>
        <p:spPr>
          <a:xfrm>
            <a:off x="9945950" y="490723"/>
            <a:ext cx="72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6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sz="1191"/>
          </a:p>
        </p:txBody>
      </p:sp>
      <p:sp>
        <p:nvSpPr>
          <p:cNvPr id="218" name="Google Shape;218;p21"/>
          <p:cNvSpPr txBox="1"/>
          <p:nvPr/>
        </p:nvSpPr>
        <p:spPr>
          <a:xfrm>
            <a:off x="10148525" y="510662"/>
            <a:ext cx="4286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6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Z-height</a:t>
            </a:r>
            <a:endParaRPr b="1" sz="1191"/>
          </a:p>
        </p:txBody>
      </p:sp>
      <p:sp>
        <p:nvSpPr>
          <p:cNvPr id="219" name="Google Shape;219;p21"/>
          <p:cNvSpPr txBox="1"/>
          <p:nvPr/>
        </p:nvSpPr>
        <p:spPr>
          <a:xfrm>
            <a:off x="10018941" y="760380"/>
            <a:ext cx="25521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775" lIns="77775" spcFirstLastPara="1" rIns="77775" wrap="square" tIns="777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6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Chassis orientation quaternion</a:t>
            </a:r>
            <a:endParaRPr b="1" sz="1191"/>
          </a:p>
        </p:txBody>
      </p:sp>
      <p:sp>
        <p:nvSpPr>
          <p:cNvPr id="220" name="Google Shape;220;p21"/>
          <p:cNvSpPr txBox="1"/>
          <p:nvPr/>
        </p:nvSpPr>
        <p:spPr>
          <a:xfrm>
            <a:off x="5011744" y="5568825"/>
            <a:ext cx="4228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12 Angular </a:t>
            </a:r>
            <a:r>
              <a:rPr b="1" i="0" lang="en-US" sz="1259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Positions</a:t>
            </a:r>
            <a:endParaRPr sz="1175"/>
          </a:p>
        </p:txBody>
      </p:sp>
      <p:sp>
        <p:nvSpPr>
          <p:cNvPr id="221" name="Google Shape;221;p21"/>
          <p:cNvSpPr txBox="1"/>
          <p:nvPr/>
        </p:nvSpPr>
        <p:spPr>
          <a:xfrm>
            <a:off x="4811925" y="5566150"/>
            <a:ext cx="72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9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sz="117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title="Opera_senza_titolo-1.png"/>
          <p:cNvPicPr preferRelativeResize="0"/>
          <p:nvPr/>
        </p:nvPicPr>
        <p:blipFill rotWithShape="1">
          <a:blip r:embed="rId4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581025" y="3143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REWARD FUNCTION </a:t>
            </a:r>
            <a:r>
              <a:rPr b="1" lang="en-US" sz="3450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OPTIMIZATION</a:t>
            </a:r>
            <a:endParaRPr b="1" sz="34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81025" y="1009650"/>
            <a:ext cx="11030100" cy="19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81025" y="1333500"/>
            <a:ext cx="5048400" cy="2190900"/>
          </a:xfrm>
          <a:prstGeom prst="roundRect">
            <a:avLst>
              <a:gd fmla="val 6956" name="adj"/>
            </a:avLst>
          </a:prstGeom>
          <a:solidFill>
            <a:srgbClr val="0F0F0F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0F0F"/>
              </a:solidFill>
              <a:highlight>
                <a:srgbClr val="0F0F0F"/>
              </a:highlight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809625" y="1571625"/>
            <a:ext cx="45720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B923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track_changes</a:t>
            </a: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Target Velocity Tracking</a:t>
            </a:r>
            <a:endParaRPr b="1"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Incentivizes tracking exactly v_ref = 1.0 m/s using a bounded Gaussian function. Prevents "runaway sprint" exploitation.</a:t>
            </a:r>
            <a:endParaRPr b="0" sz="130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B923C"/>
              </a:solidFill>
              <a:highlight>
                <a:srgbClr val="0A0A0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562725" y="1333500"/>
            <a:ext cx="5048400" cy="2190900"/>
          </a:xfrm>
          <a:prstGeom prst="roundRect">
            <a:avLst>
              <a:gd fmla="val 6956" name="adj"/>
            </a:avLst>
          </a:prstGeom>
          <a:solidFill>
            <a:srgbClr val="0F0F0F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91325" y="1571625"/>
            <a:ext cx="4572000" cy="14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B923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block</a:t>
            </a: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Orthogonal Drift Penalty</a:t>
            </a:r>
            <a:endParaRPr b="1"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Symmetrically punishes any deviation along the X-axis. The 0.3 weight suppresses forward walking while allowing balance micro-adjustments.</a:t>
            </a:r>
            <a:endParaRPr b="0" sz="130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B923C"/>
              </a:solidFill>
              <a:highlight>
                <a:srgbClr val="0A0A0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81025" y="3905250"/>
            <a:ext cx="5048400" cy="2190900"/>
          </a:xfrm>
          <a:prstGeom prst="roundRect">
            <a:avLst>
              <a:gd fmla="val 6956" name="adj"/>
            </a:avLst>
          </a:prstGeom>
          <a:solidFill>
            <a:srgbClr val="0F0F0F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09625" y="4143375"/>
            <a:ext cx="45720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B923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accessibility_new</a:t>
            </a: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Aggressive Posture Penalty</a:t>
            </a:r>
            <a:endParaRPr b="1"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Applies a heavily weighted MSE penalty to joint angles. Forces an energy-efficient pose, preventing strained, splayed stances.</a:t>
            </a:r>
            <a:endParaRPr b="0" sz="130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B923C"/>
              </a:solidFill>
              <a:highlight>
                <a:srgbClr val="0A0A0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562725" y="3905250"/>
            <a:ext cx="5048400" cy="2190900"/>
          </a:xfrm>
          <a:prstGeom prst="roundRect">
            <a:avLst>
              <a:gd fmla="val 6956" name="adj"/>
            </a:avLst>
          </a:prstGeom>
          <a:solidFill>
            <a:srgbClr val="0F0F0F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791325" y="4143375"/>
            <a:ext cx="45720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B923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waves</a:t>
            </a: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Strict Actuator Smoothness</a:t>
            </a:r>
            <a:endParaRPr b="1"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Penalizes the action jerk. Coerces smooth, sinusoidal-like signals to protect physical servo gears from mechanical fatigue.</a:t>
            </a:r>
            <a:endParaRPr b="0" sz="130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B923C"/>
              </a:solidFill>
              <a:highlight>
                <a:srgbClr val="0A0A0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9663" y="2448063"/>
            <a:ext cx="336232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8700" y="2867013"/>
            <a:ext cx="18764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5975" y="5057913"/>
            <a:ext cx="30289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29575" y="5062688"/>
            <a:ext cx="33147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/>
        </p:nvSpPr>
        <p:spPr>
          <a:xfrm>
            <a:off x="581025" y="3143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LEARNING</a:t>
            </a: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3450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81025" y="1009650"/>
            <a:ext cx="11030100" cy="19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23" title="Velocity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50" y="4329300"/>
            <a:ext cx="5486400" cy="222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title="Position_page-00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825" y="1193175"/>
            <a:ext cx="5486400" cy="24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81025" y="1319450"/>
            <a:ext cx="5277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Position Dynamics</a:t>
            </a:r>
            <a:endParaRPr sz="2100">
              <a:solidFill>
                <a:srgbClr val="FACC1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58325" y="1858250"/>
            <a:ext cx="12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700125" y="1851375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Perfect Lateral Tracking:</a:t>
            </a: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The y-position (green) climbs steadily to ~18m, proving continuous, uninterrupted locomotion.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458325" y="2978275"/>
            <a:ext cx="52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700125" y="2978275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Zero Forward Drift:</a:t>
            </a: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The x-position (red) remains perfectly flat, confirming the Neural Network successfully learned to avoid the 0.3|v_x| drift penalty.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6318525" y="4302700"/>
            <a:ext cx="527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Velocity Profile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 flipH="1">
            <a:off x="6318525" y="4659525"/>
            <a:ext cx="52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556725" y="4659525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Gaussian Target Optimization:</a:t>
            </a: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Lateral velocity v_y (green) stabilizes around </a:t>
            </a:r>
            <a:r>
              <a:rPr b="1"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0.8 m/s</a:t>
            </a: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showing the agent optimized the squared-exponential tracking reward.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 flipH="1">
            <a:off x="6318525" y="5803725"/>
            <a:ext cx="52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556725" y="5803725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Emergent Stepping Rhythm:</a:t>
            </a: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The high-frequency oscillations on the z-velocity (blue) represent the continuous footfall impacts of the policy's self-taught ambling gait.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4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title="WhatsApp Video 2026-06-22 at 17.12.5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1887203" cy="63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5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581025" y="3143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TELEOPERATED</a:t>
            </a: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3450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LEARNING</a:t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581025" y="1009650"/>
            <a:ext cx="11030100" cy="19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5" title="Tracking_Vy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300" y="3986075"/>
            <a:ext cx="6029177" cy="236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title="Tracking_Vx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025" y="1193175"/>
            <a:ext cx="6013723" cy="235888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6603300" y="2067900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603300" y="1333563"/>
            <a:ext cx="52293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Furthermore, we implemented a different learning approach: instead of tracking a fixed velocity reference on the y-axis, it learns to follow variable references on both axes.</a:t>
            </a:r>
            <a:endParaRPr sz="150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objective function was modified; specifically, the tracking reward is defined as:</a:t>
            </a:r>
            <a:endParaRPr sz="150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6603300" y="4400650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While the drift penalty is given by:</a:t>
            </a:r>
            <a:endParaRPr/>
          </a:p>
        </p:txBody>
      </p:sp>
      <p:pic>
        <p:nvPicPr>
          <p:cNvPr id="277" name="Google Shape;27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3302" y="3501788"/>
            <a:ext cx="5105400" cy="68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78" name="Google Shape;27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1052" y="4844700"/>
            <a:ext cx="4333800" cy="64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6" title="WhatsApp Video 2026-06-25 at 21.46.39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1887198" cy="637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581025" y="1914525"/>
            <a:ext cx="55406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ACC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Electronic Architecture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581025" y="23717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system utilizes a master-slave topology. An external host streams high-level commands, while the local MCU calculates the Inverse Kinematics.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819150" y="3429000"/>
            <a:ext cx="50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Arduino</a:t>
            </a: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MCU</a:t>
            </a: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Read 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serial data, calculates gait phases, and runs IK geometry math.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819150" y="418147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PCA9685 PWM Driver: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Offloads PWM generation via I2C to precisely control 12 MZ996R servos without saturating MCU timers.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819150" y="523875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Structure: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Manufactured via FDM 3D Printing (PLA) adhering exactly to the URDF link dimensions.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581025" y="34480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581025" y="4200525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581025" y="52578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</a:t>
            </a:r>
            <a:r>
              <a:rPr b="1" i="0" lang="en-US" sz="3450" u="none" cap="none" strike="noStrik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</a:t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27"/>
          <p:cNvPicPr preferRelativeResize="0"/>
          <p:nvPr/>
        </p:nvPicPr>
        <p:blipFill rotWithShape="1">
          <a:blip r:embed="rId3">
            <a:alphaModFix/>
          </a:blip>
          <a:srcRect b="0" l="0" r="0" t="10394"/>
          <a:stretch/>
        </p:blipFill>
        <p:spPr>
          <a:xfrm rot="-5400000">
            <a:off x="6735225" y="1303875"/>
            <a:ext cx="4443000" cy="530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8" title="Opera_senza_titolo-1.png"/>
          <p:cNvPicPr preferRelativeResize="0"/>
          <p:nvPr/>
        </p:nvPicPr>
        <p:blipFill rotWithShape="1">
          <a:blip r:embed="rId3">
            <a:alphaModFix/>
          </a:blip>
          <a:srcRect b="0" l="0" r="76974" t="73942"/>
          <a:stretch/>
        </p:blipFill>
        <p:spPr>
          <a:xfrm rot="5400000">
            <a:off x="2621247" y="-2701725"/>
            <a:ext cx="7330499" cy="125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8"/>
          <p:cNvSpPr txBox="1"/>
          <p:nvPr/>
        </p:nvSpPr>
        <p:spPr>
          <a:xfrm>
            <a:off x="680675" y="6439433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923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THANK YOU FOR YOUR ATTENTION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580951" y="256117"/>
            <a:ext cx="11581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0">
                <a:solidFill>
                  <a:srgbClr val="FACC15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Final Ride</a:t>
            </a:r>
            <a:endParaRPr/>
          </a:p>
        </p:txBody>
      </p:sp>
      <p:pic>
        <p:nvPicPr>
          <p:cNvPr id="307" name="Google Shape;307;p28" title="Video Project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1463" y="1234428"/>
            <a:ext cx="6448534" cy="48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>
            <a:hlinkClick r:id="rId6"/>
          </p:cNvPr>
          <p:cNvSpPr txBox="1"/>
          <p:nvPr/>
        </p:nvSpPr>
        <p:spPr>
          <a:xfrm>
            <a:off x="4316388" y="6147427"/>
            <a:ext cx="3758700" cy="21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https://github.com/GV-ing/SpiderBot.git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